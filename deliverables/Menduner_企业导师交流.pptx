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874519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F2937"/>
                </a:solidFill>
                <a:latin typeface="微软雅黑"/>
              </a:rPr>
              <a:t>Menduner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974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1F2937"/>
                </a:solidFill>
                <a:latin typeface="微软雅黑"/>
              </a:rPr>
              <a:t>把城市公开活动，整理成酒店能用的跟进清单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3520440"/>
            <a:ext cx="475488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68680" y="3703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7280"/>
                </a:solidFill>
                <a:latin typeface="微软雅黑"/>
              </a:rPr>
              <a:t>周四企业导师交流 · 成果汇报与需求验证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148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7280"/>
                </a:solidFill>
                <a:latin typeface="微软雅黑"/>
              </a:rPr>
              <a:t>ENT303TC 第 14 组 · 2026 年 10 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66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在线版本：entgroup14.com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交流目标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今天我们主要不是来展示软件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874519"/>
          <a:ext cx="10332720" cy="20482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832104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6B7280"/>
                          </a:solidFill>
                          <a:latin typeface="微软雅黑"/>
                        </a:rPr>
                        <a:t>时间分配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6B7280"/>
                          </a:solidFill>
                          <a:latin typeface="微软雅黑"/>
                        </a:rPr>
                        <a:t>我们想做的事</a:t>
                      </a:r>
                    </a:p>
                  </a:txBody>
                  <a:tcPr marL="73152" marR="73152" marT="27432" marB="27432" anchor="ctr"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30%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汇报已经做出来的东西（只说真实上线的）</a:t>
                      </a:r>
                    </a:p>
                  </a:txBody>
                  <a:tcPr marL="73152" marR="73152" marT="27432" marB="27432" anchor="ctr"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40%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请您讲酒店实际怎么获取和使用活动信息</a:t>
                      </a:r>
                    </a:p>
                  </a:txBody>
                  <a:tcPr marL="73152" marR="73152" marT="27432" marB="27432" anchor="ctr"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30%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争取一个成本低、范围小的验证机会</a:t>
                      </a:r>
                    </a:p>
                  </a:txBody>
                  <a:tcPr marL="73152" marR="73152" marT="27432" marB="27432" anchor="ctr"/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868680" y="2386584"/>
            <a:ext cx="1033272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280"/>
                </a:solidFill>
                <a:latin typeface="微软雅黑"/>
              </a:rPr>
              <a:t>我们不谈采购，也不承诺提升收入。先把方向做对。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产品定位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F2937"/>
                </a:solidFill>
                <a:latin typeface="微软雅黑"/>
              </a:rPr>
              <a:t>Menduner 是什么：一个可追溯的城市活动工作流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783080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采集城市公开活动 → 去重 → 关联场馆与地区 → 判断对哪家酒店有用 → 形成跟进清单与周报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8658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386584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每个数字都能点回来源；说不清的字段标「待补充」，不猜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9008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990088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面向酒店市场/销售/收益岗位的日常信息整理，不替代任何收益系统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436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365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活动记录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39" y="41605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416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39" y="47365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去重后身份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1605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7365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场馆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59" y="41605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59" y="47365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酒店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19" y="41605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19" y="47365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公开来源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1605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4463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47365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字段证据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949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数据为 2026-10-26 生产环境实测；太仓市直接归属活动 16 条 —— 这是样本，不是全覆盖。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数据为什么可信：来源、证据、状态三件事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828800"/>
          <a:ext cx="10332720" cy="2926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75120"/>
                <a:gridCol w="3657600"/>
              </a:tblGrid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6B7280"/>
                          </a:solidFill>
                          <a:latin typeface="微软雅黑"/>
                        </a:rPr>
                        <a:t>我们怎么做的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6B7280"/>
                          </a:solidFill>
                          <a:latin typeface="微软雅黑"/>
                        </a:rPr>
                        <a:t>对酒店意味着什么</a:t>
                      </a:r>
                    </a:p>
                  </a:txBody>
                  <a:tcPr marL="73152" marR="73152" marT="27432" marB="27432" anchor="ctr"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17 个公开来源（政府、场馆、活动平台、旅游咨询）；聚合站与转载不算独立来源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一条活动至少能追到第一条公开出处</a:t>
                      </a:r>
                    </a:p>
                  </a:txBody>
                  <a:tcPr marL="73152" marR="73152" marT="27432" marB="27432" anchor="ctr"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4463 条字段证据可点开；分关键/辅助两组，关键字段缺失标待核验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既看到结论与依据，也知道哪条还需确认</a:t>
                      </a:r>
                    </a:p>
                  </a:txBody>
                  <a:tcPr marL="73152" marR="73152" marT="27432" marB="27432" anchor="ctr"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每日快照（当前 3 份），同一天的数据可比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能看到活动是新增、改期还是消失</a:t>
                      </a:r>
                    </a:p>
                  </a:txBody>
                  <a:tcPr marL="73152" marR="73152" marT="27432" marB="27432" anchor="ctr"/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868680" y="2560320"/>
            <a:ext cx="1033272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56235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微软雅黑"/>
              </a:rPr>
              <a:t>字段已核验 ≠ 整条活动已核验 —— 这句话我们写在了页面上。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演示路径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接下来 13 分钟：只看三个动作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2937"/>
                </a:solidFill>
                <a:latin typeface="微软雅黑"/>
              </a:rPr>
              <a:t>① 发现活动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975104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280"/>
                </a:solidFill>
                <a:latin typeface="微软雅黑"/>
              </a:rPr>
              <a:t>地图 / 清单：这家酒店周边有什么、什么时候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788920"/>
            <a:ext cx="1024128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3154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2937"/>
                </a:solidFill>
                <a:latin typeface="微软雅黑"/>
              </a:rPr>
              <a:t>② 酒店跟进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209544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280"/>
                </a:solidFill>
                <a:latin typeface="微软雅黑"/>
              </a:rPr>
              <a:t>工作台：哪些值得跟进、谁在跟进、和上次比变了什么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4023360"/>
            <a:ext cx="1024128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4389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2937"/>
                </a:solidFill>
                <a:latin typeface="微软雅黑"/>
              </a:rPr>
              <a:t>③ 导出简报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443984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280"/>
                </a:solidFill>
                <a:latin typeface="微软雅黑"/>
              </a:rPr>
              <a:t>商圈洞察：一份可进周会的 Excel，每行带来源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5257800"/>
            <a:ext cx="1024128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58064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微软雅黑"/>
              </a:rPr>
              <a:t>全程只用一个城市（太仓）+ 一家真实收录酒店 + 一条真实活动 + 一份导出文件。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演示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① 发现活动：地图与清单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783080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按年份、类别、区域筛选；演示数据默认关闭，已结束活动默认隐藏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4144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441448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月初默认只看本月，月份控件折叠起来不占位置（1440×900 下地图可见高度 44%）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99815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3099815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清单按「即将开始 / 进行中」分组；缺坐标的活动单独标注，不从统计里消失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3758184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每个活动点开能看到来源、核验状态与缺失字段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74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4ED8"/>
                </a:solidFill>
                <a:latin typeface="微软雅黑"/>
              </a:rPr>
              <a:t>关键句：我们整理的是公开活动信息，不是城市全部活动。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演示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② 酒店跟进：把这些活动变成待办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783080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工作台给每家店列出未来 7 天值得关注的活动，并写明推荐理由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4144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441448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四个状态：关注 / 待跟进 / 已跟进 / 忽略；另有「是否采纳建议」记录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99815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3099815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推荐用四维规则（业务相关性、距离、数据可信度、紧迫度）；缺数据的维度显示「未知」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3758184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F2937"/>
                </a:solidFill>
                <a:latin typeface="微软雅黑"/>
              </a:rPr>
              <a:t>同一家店的员工看到的是同一份状态，不用在群里反复对口径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演示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③ 导出简报：一份能进周会的 Excel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783080"/>
          <a:ext cx="10332720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8229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6B7280"/>
                          </a:solidFill>
                          <a:latin typeface="微软雅黑"/>
                        </a:rPr>
                        <a:t>工作表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6B7280"/>
                          </a:solidFill>
                          <a:latin typeface="微软雅黑"/>
                        </a:rPr>
                        <a:t>内容</a:t>
                      </a:r>
                    </a:p>
                  </a:txBody>
                  <a:tcPr marL="73152" marR="73152" marT="27432" marB="27432"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城市概览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地区、时间段、去重后活动数、覆盖天数、来源数、批次</a:t>
                      </a:r>
                    </a:p>
                  </a:txBody>
                  <a:tcPr marL="73152" marR="73152" marT="27432" marB="27432"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活动明细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名称、类别、起止、场馆、地区、坐标有无、来源——每行可回溯源</a:t>
                      </a:r>
                    </a:p>
                  </a:txBody>
                  <a:tcPr marL="73152" marR="73152" marT="27432" marB="27432"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本期变化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只在有两份可比快照时给出，否则写明暂不提供及原因</a:t>
                      </a:r>
                    </a:p>
                  </a:txBody>
                  <a:tcPr marL="73152" marR="73152" marT="27432" marB="27432"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证据与待确认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来源名称、公开链接、核对时间；缺场馆/坐标/日期的单列一行</a:t>
                      </a:r>
                    </a:p>
                  </a:txBody>
                  <a:tcPr marL="73152" marR="73152" marT="27432" marB="27432" anchor="ctr"/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868680" y="2258568"/>
            <a:ext cx="1033272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附录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其他功能：老师想深入看时我们再打开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783080"/>
          <a:ext cx="10332720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86000"/>
                <a:gridCol w="8046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6B7280"/>
                          </a:solidFill>
                          <a:latin typeface="微软雅黑"/>
                        </a:rPr>
                        <a:t>页面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6B7280"/>
                          </a:solidFill>
                          <a:latin typeface="微软雅黑"/>
                        </a:rPr>
                        <a:t>回答什么问题</a:t>
                      </a:r>
                    </a:p>
                  </a:txBody>
                  <a:tcPr marL="73152" marR="73152" marT="27432" marB="27432"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知识图谱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一个活动和哪些场馆、地区、酒店有关；缺的关系写「待补充」</a:t>
                      </a:r>
                    </a:p>
                  </a:txBody>
                  <a:tcPr marL="73152" marR="73152" marT="27432" marB="27432"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商圈洞察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行政区与商业商圈分开统计；经济情景是参数假设，缺参数不出金额</a:t>
                      </a:r>
                    </a:p>
                  </a:txBody>
                  <a:tcPr marL="73152" marR="73152" marT="27432" marB="27432"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酒店活动情报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某家酒店周边 10 km 内的活动；坐标未核验的不计入距离</a:t>
                      </a:r>
                    </a:p>
                  </a:txBody>
                  <a:tcPr marL="73152" marR="73152" marT="27432" marB="27432"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找酒店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按星级、地区、名称找已收录的 19 家酒店</a:t>
                      </a:r>
                    </a:p>
                  </a:txBody>
                  <a:tcPr marL="73152" marR="73152" marT="27432" marB="27432"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本店经营数据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酒店自己上传经营数据，只在本店账号内可见</a:t>
                      </a:r>
                    </a:p>
                  </a:txBody>
                  <a:tcPr marL="73152" marR="73152" marT="27432" marB="27432"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数据质量与来源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微软雅黑"/>
                        </a:rPr>
                        <a:t>每条数据能不能用、来源在哪、还缺什么</a:t>
                      </a:r>
                    </a:p>
                  </a:txBody>
                  <a:tcPr marL="73152" marR="73152" marT="27432" marB="27432" anchor="ctr"/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868680" y="2240280"/>
            <a:ext cx="1033272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我们明确不做的事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828800"/>
          <a:ext cx="10332720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6126480"/>
              </a:tblGrid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6B7280"/>
                          </a:solidFill>
                          <a:latin typeface="微软雅黑"/>
                        </a:rPr>
                        <a:t>不做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6B7280"/>
                          </a:solidFill>
                          <a:latin typeface="微软雅黑"/>
                        </a:rPr>
                        <a:t>原因</a:t>
                      </a:r>
                    </a:p>
                  </a:txBody>
                  <a:tcPr marL="73152" marR="73152" marT="27432" marB="27432" anchor="ctr"/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需求预测、房价建议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没有足够的酒店侧数据，做了也不可信</a:t>
                      </a:r>
                    </a:p>
                  </a:txBody>
                  <a:tcPr marL="73152" marR="73152" marT="27432" marB="27432" anchor="ctr"/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替代酒店收益管理系统（RMS）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我们做的是它的输入侧，不是竞品</a:t>
                      </a:r>
                    </a:p>
                  </a:txBody>
                  <a:tcPr marL="73152" marR="73152" marT="27432" marB="27432" anchor="ctr"/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承诺提升 RevPAR / ADR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现在没有证据，承诺就是不专业</a:t>
                      </a:r>
                    </a:p>
                  </a:txBody>
                  <a:tcPr marL="73152" marR="73152" marT="27432" marB="27432" anchor="ctr"/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把参数情景说成真实收入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微软雅黑"/>
                        </a:rPr>
                        <a:t>假设和观测必须分开说</a:t>
                      </a:r>
                    </a:p>
                  </a:txBody>
                  <a:tcPr marL="73152" marR="73152" marT="27432" marB="27432" anchor="ctr"/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868680" y="2432304"/>
            <a:ext cx="1033272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280"/>
                </a:solidFill>
                <a:latin typeface="微软雅黑"/>
              </a:rPr>
              <a:t>能把「不做什么」说清楚，比多讲十个功能更可信。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合作请求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想请老师帮的三件事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783080"/>
          <a:ext cx="10332720" cy="2852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35040"/>
                <a:gridCol w="4297680"/>
              </a:tblGrid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6B7280"/>
                          </a:solidFill>
                          <a:latin typeface="微软雅黑"/>
                        </a:rPr>
                        <a:t>层级 · 请求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6B7280"/>
                          </a:solidFill>
                          <a:latin typeface="微软雅黑"/>
                        </a:rPr>
                        <a:t>我们的承诺</a:t>
                      </a:r>
                    </a:p>
                  </a:txBody>
                  <a:tcPr marL="73152" marR="73152" marT="27432" marB="27432" anchor="ctr"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第一层：帮我们评审一份真实城市简报，指出无效字段与缺失信息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不增加企业同事工作量</a:t>
                      </a:r>
                    </a:p>
                  </a:txBody>
                  <a:tcPr marL="73152" marR="73152" marT="27432" marB="27432" anchor="ctr"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第二层：20–30 分钟，与市场/销售/收益岗位交流业务流程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提前给议题，不超时</a:t>
                      </a:r>
                    </a:p>
                  </a:txBody>
                  <a:tcPr marL="73152" marR="73152" marT="27432" marB="27432" anchor="ctr"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第三层：推荐一家合适酒店，做单城市小范围验证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系统运行、简报整理、问题修正由我们负责</a:t>
                      </a:r>
                    </a:p>
                  </a:txBody>
                  <a:tcPr marL="73152" marR="73152" marT="27432" marB="27432" anchor="ctr"/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868680" y="2496312"/>
            <a:ext cx="1033272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489204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4ED8"/>
                </a:solidFill>
                <a:latin typeface="微软雅黑"/>
              </a:rPr>
              <a:t>不需要接入酒店内部系统，也不要客户名单、订单明细或任何个人信息。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349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微软雅黑"/>
              </a:rPr>
              <a:t>如果近期不方便，也完全可以先从业务建议和材料反馈开始。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企业能得到的：三项可以量出来的结果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828800"/>
          <a:ext cx="10332719" cy="2194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7955279"/>
              </a:tblGrid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6B7280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6B7280"/>
                          </a:solidFill>
                          <a:latin typeface="微软雅黑"/>
                        </a:rPr>
                        <a:t>验证方式</a:t>
                      </a:r>
                    </a:p>
                  </a:txBody>
                  <a:tcPr marL="73152" marR="73152" marT="27432" marB="27432" anchor="ctr"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信息价值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能否更早发现与自身相关的活动（发现时间差）</a:t>
                      </a:r>
                    </a:p>
                  </a:txBody>
                  <a:tcPr marL="73152" marR="73152" marT="27432" marB="27432" anchor="ctr"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工作效率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整理一份活动简报所需时间是否减少</a:t>
                      </a:r>
                    </a:p>
                  </a:txBody>
                  <a:tcPr marL="73152" marR="73152" marT="27432" marB="27432" anchor="ctr"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决策价值</a:t>
                      </a:r>
                    </a:p>
                  </a:txBody>
                  <a:tcPr marL="73152" marR="73152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F2937"/>
                          </a:solidFill>
                          <a:latin typeface="微软雅黑"/>
                        </a:rPr>
                        <a:t>员工能否基于简报挑出该跟进的活动，并说清理由</a:t>
                      </a:r>
                    </a:p>
                  </a:txBody>
                  <a:tcPr marL="73152" marR="73152" marT="27432" marB="27432" anchor="ctr"/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868680" y="2377440"/>
            <a:ext cx="10332719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4343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280"/>
                </a:solidFill>
                <a:latin typeface="微软雅黑"/>
              </a:rPr>
              <a:t>我们不承诺营业额提升，只承诺把这三件事量出来给您看。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后续路线：三步走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F2937"/>
                </a:solidFill>
                <a:latin typeface="微软雅黑"/>
              </a:rPr>
              <a:t>短期 2–4 周 · 收尾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7627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交互测试收尾、使用说明、演示流程、数据覆盖说明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23744"/>
            <a:ext cx="10332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交付：使用说明书 + 试点需求清单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" y="2907791"/>
            <a:ext cx="10241279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8680" y="3218688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F2937"/>
                </a:solidFill>
                <a:latin typeface="微软雅黑"/>
              </a:rPr>
              <a:t>中期 1–3 月 · 试点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按约定范围整理活动、生成简报、记录问题、改进质量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05072"/>
            <a:ext cx="10332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交付：试点评估报告 + 功能优先级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389120"/>
            <a:ext cx="10241279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70001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F2937"/>
                </a:solidFill>
                <a:latin typeface="微软雅黑"/>
              </a:rPr>
              <a:t>长期 · 商业化探索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38928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数据维护成本、标准化、多店管理、权限隔离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486400"/>
            <a:ext cx="10332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交付：基于真实使用反馈的可行性方案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" y="5870448"/>
            <a:ext cx="10241279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8680" y="58064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每一步都需要企业配合：短期给业务反馈，中期给一个试点场景，长期给采购与预算流程的指导。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2937"/>
                </a:solidFill>
                <a:latin typeface="微软雅黑"/>
              </a:rPr>
              <a:t>今天离场前，希望能拿到两个答案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3032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928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</a:rPr>
              <a:t>Menduner · ENT303TC 第 14 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2011680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1F2937"/>
                </a:solidFill>
                <a:latin typeface="微软雅黑"/>
              </a:rPr>
              <a:t>先找哪个岗位、先解决哪一个具体问题？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1D4ED8"/>
                </a:solidFill>
                <a:latin typeface="微软雅黑"/>
              </a:rPr>
              <a:t>·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880360"/>
            <a:ext cx="10021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1F2937"/>
                </a:solidFill>
                <a:latin typeface="微软雅黑"/>
              </a:rPr>
              <a:t>下一步由谁在什么时候给我们一次反馈（哪怕是微信一句话）？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D4ED8"/>
                </a:solidFill>
                <a:latin typeface="微软雅黑"/>
              </a:rPr>
              <a:t>如果只能给一个建议：您觉得我们最该先验证的方向是哪个？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2402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937"/>
                </a:solidFill>
                <a:latin typeface="微软雅黑"/>
              </a:rPr>
              <a:t>谢谢老师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200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6B7280"/>
                </a:solidFill>
                <a:latin typeface="微软雅黑"/>
              </a:rPr>
              <a:t>系统在线体验：entgroup14.com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6B7280"/>
                </a:solidFill>
                <a:latin typeface="微软雅黑"/>
              </a:rPr>
              <a:t>后续材料与试点方案，我们会在一周内整理后发您。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4343400"/>
            <a:ext cx="4754880" cy="0"/>
          </a:xfrm>
          <a:prstGeom prst="line">
            <a:avLst/>
          </a:prstGeom>
          <a:ln w="11430">
            <a:solidFill>
              <a:srgbClr val="D8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