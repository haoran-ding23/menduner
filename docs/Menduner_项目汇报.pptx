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5200" b="1">
                <a:solidFill>
                  <a:srgbClr val="FFFFFF"/>
                </a:solidFill>
                <a:latin typeface="Microsoft YaHei"/>
              </a:rPr>
              <a:t>Menduner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9EC2F5"/>
                </a:solidFill>
                <a:latin typeface="Microsoft YaHei"/>
              </a:rPr>
              <a:t>苏州城市活动情报平台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3154680"/>
            <a:ext cx="2011680" cy="381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47472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B9C6D8"/>
                </a:solidFill>
                <a:latin typeface="Microsoft YaHei"/>
              </a:rPr>
              <a:t>为酒店收益管理者提供可追溯的城市活动与外部需求信号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B9C6D8"/>
                </a:solidFill>
                <a:latin typeface="Microsoft YaHei"/>
              </a:rPr>
              <a:t>每一条数据都能回溯到原始网页，不确定的一律交人工审核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7A899C"/>
                </a:solidFill>
                <a:latin typeface="Microsoft YaHei"/>
              </a:rPr>
              <a:t>项目组 · 第 14 组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7A899C"/>
                </a:solidFill>
                <a:latin typeface="Microsoft YaHei"/>
              </a:rPr>
              <a:t>ENT303TC · 苏州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937760"/>
            <a:ext cx="3931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80000"/>
              </a:lnSpc>
            </a:pPr>
            <a:r>
              <a:rPr sz="1200" b="0">
                <a:solidFill>
                  <a:srgbClr val="9EC2F5"/>
                </a:solidFill>
                <a:latin typeface="Microsoft YaHei"/>
              </a:rPr>
              <a:t>系统已上线运行</a:t>
            </a:r>
          </a:p>
          <a:p>
            <a:pPr algn="r">
              <a:lnSpc>
                <a:spcPct val="180000"/>
              </a:lnSpc>
            </a:pPr>
            <a:r>
              <a:rPr sz="1200" b="0">
                <a:solidFill>
                  <a:srgbClr val="9EC2F5"/>
                </a:solidFill>
                <a:latin typeface="Microsoft YaHei"/>
              </a:rPr>
              <a:t>http://47.116.133.230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3D8"/>
                </a:solidFill>
                <a:latin typeface="Microsoft YaHei"/>
              </a:rPr>
              <a:t>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21B2B"/>
                </a:solidFill>
                <a:latin typeface="Microsoft YaHei"/>
              </a:rPr>
              <a:t>酒店定价看的是未来，但未来是看不见的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371600" cy="381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A899C"/>
                </a:solidFill>
                <a:latin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3E4C61"/>
                </a:solidFill>
                <a:latin typeface="Microsoft YaHei"/>
              </a:rPr>
              <a:t>城市里的一次展会、一场演唱会，会在几天内把周边酒店的需求推高。这些活动信息其实是公开的，但散落在几十个网站，格式各异，真假混杂。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4378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0662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收益管理者每天要回答的问题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下周这个区域会不会突然住满？该提前锁价还是放量？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62102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8386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现在的做法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9476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靠经验、靠零散微信推文、靠销售打电话问。信息滞后，无法追溯，无法量化。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39826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6110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根本障碍不是拿不到数据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而是不敢用一个来路不明的数字去改价格。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3D8"/>
                </a:solidFill>
                <a:latin typeface="Microsoft YaHei"/>
              </a:rPr>
              <a:t>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21B2B"/>
                </a:solidFill>
                <a:latin typeface="Microsoft YaHei"/>
              </a:rPr>
              <a:t>为什么直接爬下来不能用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371600" cy="381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A899C"/>
                </a:solidFill>
                <a:latin typeface="Microsoft YaHe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2938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9222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来源质量差一个量级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官方政府公告、场馆官网、聚合平台、社区用户帖，可信度完全不同。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6090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2374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同一活动有多个版本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346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标题标点不同、场馆叫法不同，同一场音乐会在两个来源里就是两条记录。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39242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5526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字段经常缺失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6616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只有日期没有场馆、只有标题没有时间。静默丢弃会丢真实活动，静默补全就是编造。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12394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8678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聚合平台的时间可能只是概览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列表页上的 7 月 20 日 可能只是月份的展示，不是活动日期。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29200"/>
            <a:ext cx="10515600" cy="960120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3036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B63D8"/>
                </a:solidFill>
                <a:latin typeface="Microsoft YaHei"/>
              </a:rPr>
              <a:t>所以 Menduner 的目标不是爬到更多数据，而是让每一个进入系统的数字都经得起追问。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3D8"/>
                </a:solidFill>
                <a:latin typeface="Microsoft YaHei"/>
              </a:rPr>
              <a:t>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21B2B"/>
                </a:solidFill>
                <a:latin typeface="Microsoft YaHei"/>
              </a:rPr>
              <a:t>三层结构：来源、证据、人工核验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371600" cy="381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A899C"/>
                </a:solidFill>
                <a:latin typeface="Microsoft YaHe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401568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3401568" cy="82296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12848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B63D8"/>
                </a:solidFill>
                <a:latin typeface="Microsoft YaHei"/>
              </a:rPr>
              <a:t>01 · 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60604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21B2B"/>
                </a:solidFill>
                <a:latin typeface="Microsoft YaHei"/>
              </a:rPr>
              <a:t>有限但真实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291840"/>
            <a:ext cx="28529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3E4C61"/>
                </a:solidFill>
                <a:latin typeface="Microsoft YaHei"/>
              </a:rPr>
              <a:t>14 个来源注册在册，每个都有信任等级、
采集状态和失败原因。不假装全网都爬过。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920240"/>
            <a:ext cx="3401568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1920240"/>
            <a:ext cx="3401568" cy="82296"/>
          </a:xfrm>
          <a:prstGeom prst="rect">
            <a:avLst/>
          </a:prstGeom>
          <a:solidFill>
            <a:srgbClr val="C88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2212848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C88414"/>
                </a:solidFill>
                <a:latin typeface="Microsoft YaHei"/>
              </a:rPr>
              <a:t>02 · 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60604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21B2B"/>
                </a:solidFill>
                <a:latin typeface="Microsoft YaHei"/>
              </a:rPr>
              <a:t>每个字段留原文出处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3291840"/>
            <a:ext cx="28529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3E4C61"/>
                </a:solidFill>
                <a:latin typeface="Microsoft YaHei"/>
              </a:rPr>
              <a:t>每个字段单独一条证据：值、来源 URL、
提取方式、核验状态。原文网页全部留存。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82712" y="1920240"/>
            <a:ext cx="3401568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82712" y="1920240"/>
            <a:ext cx="3401568" cy="82296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212848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E8E5A"/>
                </a:solidFill>
                <a:latin typeface="Microsoft YaHei"/>
              </a:rPr>
              <a:t>03 · 核验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0604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121B2B"/>
                </a:solidFill>
                <a:latin typeface="Microsoft YaHei"/>
              </a:rPr>
              <a:t>规则加人工兜底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291840"/>
            <a:ext cx="28529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3E4C61"/>
                </a:solidFill>
                <a:latin typeface="Microsoft YaHei"/>
              </a:rPr>
              <a:t>只有官方来源且提取完全确定才自动标记已核验，
其余全部进入人工审核队列。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3D8"/>
                </a:solidFill>
                <a:latin typeface="Microsoft YaHei"/>
              </a:rPr>
              <a:t>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21B2B"/>
                </a:solidFill>
                <a:latin typeface="Microsoft YaHei"/>
              </a:rPr>
              <a:t>证据模型：把一句话拆成可复查的字段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371600" cy="381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A899C"/>
                </a:solidFill>
                <a:latin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E4C61"/>
                </a:solidFill>
                <a:latin typeface="Microsoft YaHei"/>
              </a:rPr>
              <a:t>活动名、日期、场馆、组织方，每个字段独立记录，独立核验，独立失败。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899C"/>
                </a:solidFill>
                <a:latin typeface="Microsoft YaHei"/>
              </a:rPr>
              <a:t>字段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19456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899C"/>
                </a:solidFill>
                <a:latin typeface="Microsoft YaHei"/>
              </a:rPr>
              <a:t>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9456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899C"/>
                </a:solidFill>
                <a:latin typeface="Microsoft YaHei"/>
              </a:rPr>
              <a:t>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19456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899C"/>
                </a:solidFill>
                <a:latin typeface="Microsoft YaHei"/>
              </a:rPr>
              <a:t>提取方式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19456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899C"/>
                </a:solidFill>
                <a:latin typeface="Microsoft YaHei"/>
              </a:rPr>
              <a:t>状态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42032"/>
            <a:ext cx="10012680" cy="19050"/>
          </a:xfrm>
          <a:prstGeom prst="rect">
            <a:avLst/>
          </a:prstGeom>
          <a:solidFill>
            <a:srgbClr val="DDE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633472"/>
            <a:ext cx="10012680" cy="457200"/>
          </a:xfrm>
          <a:prstGeom prst="rect">
            <a:avLst/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活动名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69748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苏州交响乐团音乐会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6974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场馆官网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6974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结构化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69748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E8E5A"/>
                </a:solidFill>
                <a:latin typeface="Microsoft YaHei"/>
              </a:rPr>
              <a:t>已核验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7296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开始日期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172968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2027-01-08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17296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场馆官网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7296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结构化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172968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E8E5A"/>
                </a:solidFill>
                <a:latin typeface="Microsoft YaHei"/>
              </a:rPr>
              <a:t>已核验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584448"/>
            <a:ext cx="10012680" cy="457200"/>
          </a:xfrm>
          <a:prstGeom prst="rect">
            <a:avLst/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648456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场馆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3648456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苏州交响乐团音乐厅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648456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场馆官网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648456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结构化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648456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E8E5A"/>
                </a:solidFill>
                <a:latin typeface="Microsoft YaHei"/>
              </a:rPr>
              <a:t>已核验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12394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组织方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123944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来源未给出该字段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123944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123944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123944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D13A3A"/>
                </a:solidFill>
                <a:latin typeface="Microsoft YaHei"/>
              </a:rPr>
              <a:t>缺失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535424"/>
            <a:ext cx="10012680" cy="457200"/>
          </a:xfrm>
          <a:prstGeom prst="rect">
            <a:avLst/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59943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商圈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4599432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湖东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459943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高德反查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459943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推断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599432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C88414"/>
                </a:solidFill>
                <a:latin typeface="Microsoft YaHei"/>
              </a:rPr>
              <a:t>待复核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7A899C"/>
                </a:solidFill>
                <a:latin typeface="Microsoft YaHei"/>
              </a:rPr>
              <a:t>缺失和待复核都被明确记录，而不是留空。留空看起来像没有这个字段，记录状态才知道是来源本来就没给。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3D8"/>
                </a:solidFill>
                <a:latin typeface="Microsoft YaHei"/>
              </a:rPr>
              <a:t>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21B2B"/>
                </a:solidFill>
                <a:latin typeface="Microsoft YaHei"/>
              </a:rPr>
              <a:t>自动核验只有一条规则，而且很窄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371600" cy="381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A899C"/>
                </a:solidFill>
                <a:latin typeface="Microsoft YaHe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5120640" cy="1783080"/>
          </a:xfrm>
          <a:prstGeom prst="roundRect">
            <a:avLst>
              <a:gd name="adj" fmla="val 8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9339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E8E5A"/>
                </a:solidFill>
                <a:latin typeface="Microsoft YaHei"/>
              </a:rPr>
              <a:t>自动标记已核验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E4C61"/>
                </a:solidFill>
                <a:latin typeface="Microsoft YaHei"/>
              </a:rPr>
              <a:t>官方来源（政府 / 场馆官网）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E4C61"/>
                </a:solidFill>
                <a:latin typeface="Microsoft YaHei"/>
              </a:rPr>
              <a:t>并且 提取完全确定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E4C61"/>
                </a:solidFill>
                <a:latin typeface="Microsoft YaHei"/>
              </a:rPr>
              <a:t>两个条件同时成立才算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029200" cy="178308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9339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C88414"/>
                </a:solidFill>
                <a:latin typeface="Microsoft YaHei"/>
              </a:rPr>
              <a:t>进入人工审核队列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87168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E4C61"/>
                </a:solidFill>
                <a:latin typeface="Microsoft YaHei"/>
              </a:rPr>
              <a:t>聚合平台 / 社区帖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E4C61"/>
                </a:solidFill>
                <a:latin typeface="Microsoft YaHei"/>
              </a:rPr>
              <a:t>或者 日期靠推断、场馆靠猜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E4C61"/>
                </a:solidFill>
                <a:latin typeface="Microsoft YaHei"/>
              </a:rPr>
              <a:t>命中任意一条就不自动核验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8678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4962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不做看起来对就放过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605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宁可显示待复核，也不给一个无法追溯的已核验。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1830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8114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实际分布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1756 条字段证据中，已核验 558 条（24%），待复核 648 条（44%），缺失 377 条（21%）。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3D8"/>
                </a:solidFill>
                <a:latin typeface="Microsoft YaHei"/>
              </a:rPr>
              <a:t>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21B2B"/>
                </a:solidFill>
                <a:latin typeface="Microsoft YaHei"/>
              </a:rPr>
              <a:t>人工审核是主角，不是补丁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371600" cy="381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A899C"/>
                </a:solidFill>
                <a:latin typeface="Microsoft YaHe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2938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9222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一个字段一个决定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通过 / 驳回 / 修正 / 确认来源确实没有这个值，四种决定分开记录。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6090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2374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必须署名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346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每条决定记录审核人姓名和时间。没有署名的核验等于没有核验。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39242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5526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决定会持久保留，也会失效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6616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重新采集不会覆盖人工判断；但来源的值变了，人工决定自动失效，避免用旧判断背书新数据。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12394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8678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一次核完一个活动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「全部核查完毕」提交后，明确报告还剩几个冲突字段需要单独处理。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983480"/>
            <a:ext cx="10515600" cy="960120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17550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1B63D8"/>
                </a:solidFill>
                <a:latin typeface="Microsoft YaHei"/>
              </a:rPr>
              <a:t>目前已记录 97 条人工决定。入口在「证据与数据质量」页面，每条证据都能点开看到原始网页。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3D8"/>
                </a:solidFill>
                <a:latin typeface="Microsoft YaHei"/>
              </a:rPr>
              <a:t>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21B2B"/>
                </a:solidFill>
                <a:latin typeface="Microsoft YaHei"/>
              </a:rPr>
              <a:t>六个页面，覆盖从发现到核验的完整链路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371600" cy="381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A899C"/>
                </a:solidFill>
                <a:latin typeface="Microsoft YaHe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40156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73152" cy="13716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29968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21B2B"/>
                </a:solidFill>
                <a:latin typeface="Microsoft YaHei"/>
              </a:rPr>
              <a:t>城市活动地图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2944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按类别着色，热点场馆带脉冲光环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828800"/>
            <a:ext cx="340156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9976" y="1828800"/>
            <a:ext cx="73152" cy="13716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2029968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21B2B"/>
                </a:solidFill>
                <a:latin typeface="Microsoft YaHei"/>
              </a:rPr>
              <a:t>活动日历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468880"/>
            <a:ext cx="2944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月视图，一眼看出活动密度高峰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2712" y="1828800"/>
            <a:ext cx="340156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82712" y="1828800"/>
            <a:ext cx="73152" cy="13716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029968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21B2B"/>
                </a:solidFill>
                <a:latin typeface="Microsoft YaHei"/>
              </a:rPr>
              <a:t>知识图谱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468880"/>
            <a:ext cx="2944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活动到场馆到商圈到酒店的关联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438144"/>
            <a:ext cx="340156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438144"/>
            <a:ext cx="73152" cy="13716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63931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21B2B"/>
                </a:solidFill>
                <a:latin typeface="Microsoft YaHei"/>
              </a:rPr>
              <a:t>酒店活动情报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078224"/>
            <a:ext cx="2944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15 家酒店按地段分三档，标注周边活动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9976" y="3438144"/>
            <a:ext cx="340156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9976" y="3438144"/>
            <a:ext cx="73152" cy="13716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363931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21B2B"/>
                </a:solidFill>
                <a:latin typeface="Microsoft YaHei"/>
              </a:rPr>
              <a:t>商圈洞察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4078224"/>
            <a:ext cx="2944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哪些区域在发热，酒店供给对比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82712" y="3438144"/>
            <a:ext cx="340156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82712" y="3438144"/>
            <a:ext cx="73152" cy="1371600"/>
          </a:xfrm>
          <a:prstGeom prst="rect">
            <a:avLst/>
          </a:prstGeom>
          <a:solidFill>
            <a:srgbClr val="C88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2" y="363931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21B2B"/>
                </a:solidFill>
                <a:latin typeface="Microsoft YaHei"/>
              </a:rPr>
              <a:t>证据与数据质量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4078224"/>
            <a:ext cx="2944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逐字段核验入口、来源状态、前端错误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7A899C"/>
                </a:solidFill>
                <a:latin typeface="Microsoft YaHei"/>
              </a:rPr>
              <a:t>也做了手机适配：导航移到底部，地图高度随屏幕自适应，宽表格可横向滑动。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3D8"/>
                </a:solidFill>
                <a:latin typeface="Microsoft YaHei"/>
              </a:rPr>
              <a:t>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21B2B"/>
                </a:solidFill>
                <a:latin typeface="Microsoft YaHei"/>
              </a:rPr>
              <a:t>当前真实数据（不是演示数据）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371600" cy="381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A899C"/>
                </a:solidFill>
                <a:latin typeface="Microsoft YaHe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2500884" cy="1371600"/>
          </a:xfrm>
          <a:prstGeom prst="roundRect">
            <a:avLst>
              <a:gd name="adj" fmla="val 8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25008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1">
                <a:solidFill>
                  <a:srgbClr val="1B63D8"/>
                </a:solidFill>
                <a:latin typeface="Microsoft YaHei"/>
              </a:rPr>
              <a:t>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87752"/>
            <a:ext cx="25008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9292" y="1783080"/>
            <a:ext cx="2500884" cy="1371600"/>
          </a:xfrm>
          <a:prstGeom prst="roundRect">
            <a:avLst>
              <a:gd name="adj" fmla="val 8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9292" y="1965960"/>
            <a:ext cx="25008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1">
                <a:solidFill>
                  <a:srgbClr val="1B63D8"/>
                </a:solidFill>
                <a:latin typeface="Microsoft YaHei"/>
              </a:rPr>
              <a:t>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9292" y="2587752"/>
            <a:ext cx="25008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场馆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83080"/>
            <a:ext cx="2500884" cy="1371600"/>
          </a:xfrm>
          <a:prstGeom prst="roundRect">
            <a:avLst>
              <a:gd name="adj" fmla="val 8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965960"/>
            <a:ext cx="25008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1">
                <a:solidFill>
                  <a:srgbClr val="1E8E5A"/>
                </a:solidFill>
                <a:latin typeface="Microsoft YaHei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2587752"/>
            <a:ext cx="25008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酒店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3396" y="1783080"/>
            <a:ext cx="2500884" cy="1371600"/>
          </a:xfrm>
          <a:prstGeom prst="roundRect">
            <a:avLst>
              <a:gd name="adj" fmla="val 8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3396" y="1965960"/>
            <a:ext cx="25008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1">
                <a:solidFill>
                  <a:srgbClr val="C88414"/>
                </a:solidFill>
                <a:latin typeface="Microsoft YaHei"/>
              </a:rPr>
              <a:t>1756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3396" y="2587752"/>
            <a:ext cx="25008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字段证据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37560"/>
            <a:ext cx="2500884" cy="1371600"/>
          </a:xfrm>
          <a:prstGeom prst="roundRect">
            <a:avLst>
              <a:gd name="adj" fmla="val 8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25008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1">
                <a:solidFill>
                  <a:srgbClr val="7A899C"/>
                </a:solidFill>
                <a:latin typeface="Microsoft YaHei"/>
              </a:rPr>
              <a:t>1404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42232"/>
            <a:ext cx="25008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原始网页留存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9292" y="3337560"/>
            <a:ext cx="2500884" cy="1371600"/>
          </a:xfrm>
          <a:prstGeom prst="roundRect">
            <a:avLst>
              <a:gd name="adj" fmla="val 8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9292" y="3520440"/>
            <a:ext cx="25008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1">
                <a:solidFill>
                  <a:srgbClr val="1B63D8"/>
                </a:solidFill>
                <a:latin typeface="Microsoft YaHei"/>
              </a:rPr>
              <a:t>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9292" y="4142232"/>
            <a:ext cx="25008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可地图绘制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337560"/>
            <a:ext cx="2500884" cy="1371600"/>
          </a:xfrm>
          <a:prstGeom prst="roundRect">
            <a:avLst>
              <a:gd name="adj" fmla="val 8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3520440"/>
            <a:ext cx="25008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1">
                <a:solidFill>
                  <a:srgbClr val="1E8E5A"/>
                </a:solidFill>
                <a:latin typeface="Microsoft YaHei"/>
              </a:rPr>
              <a:t>113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4142232"/>
            <a:ext cx="25008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未来活动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83396" y="3337560"/>
            <a:ext cx="2500884" cy="1371600"/>
          </a:xfrm>
          <a:prstGeom prst="roundRect">
            <a:avLst>
              <a:gd name="adj" fmla="val 8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3396" y="3520440"/>
            <a:ext cx="25008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1">
                <a:solidFill>
                  <a:srgbClr val="C88414"/>
                </a:solidFill>
                <a:latin typeface="Microsoft YaHei"/>
              </a:rPr>
              <a:t>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3396" y="4142232"/>
            <a:ext cx="25008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人工决定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7A899C"/>
                </a:solidFill>
                <a:latin typeface="Microsoft YaHei"/>
              </a:rPr>
              <a:t>全部来自 14 个注册来源的真实采集，数据库里 0 条 MOCK 数据。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7A899C"/>
                </a:solidFill>
                <a:latin typeface="Microsoft YaHei"/>
              </a:rPr>
              <a:t>覆盖 29 个商圈 / 街道，活动日期跨度 2025-05 到 2027-07。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3D8"/>
                </a:solidFill>
                <a:latin typeface="Microsoft YaHei"/>
              </a:rPr>
              <a:t>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21B2B"/>
                </a:solidFill>
                <a:latin typeface="Microsoft YaHei"/>
              </a:rPr>
              <a:t>工程实现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371600" cy="381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A899C"/>
                </a:solidFill>
                <a:latin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5120640" cy="1115568"/>
          </a:xfrm>
          <a:prstGeom prst="roundRect">
            <a:avLst>
              <a:gd name="adj" fmla="val 7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B63D8"/>
                </a:solidFill>
                <a:latin typeface="Microsoft YaHei"/>
              </a:rPr>
              <a:t>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Python 适配器，遵守 robots.txt
限速重试，失败记录原因，绝不制造活动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27248"/>
            <a:ext cx="5120640" cy="1115568"/>
          </a:xfrm>
          <a:prstGeom prst="roundRect">
            <a:avLst>
              <a:gd name="adj" fmla="val 7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2552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B63D8"/>
                </a:solidFill>
                <a:latin typeface="Microsoft YaHei"/>
              </a:rPr>
              <a:t>后端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8444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FastAPI + SQLite
每个字段的证据独立存储与查询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425696"/>
            <a:ext cx="5120640" cy="1115568"/>
          </a:xfrm>
          <a:prstGeom prst="roundRect">
            <a:avLst>
              <a:gd name="adj" fmla="val 7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537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B63D8"/>
                </a:solidFill>
                <a:latin typeface="Microsoft YaHei"/>
              </a:rPr>
              <a:t>前端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882896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React + TypeScript + Vite + antd
六页界面，高德地图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828800"/>
            <a:ext cx="5120640" cy="1115568"/>
          </a:xfrm>
          <a:prstGeom prst="roundRect">
            <a:avLst>
              <a:gd name="adj" fmla="val 7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568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B63D8"/>
                </a:solidFill>
                <a:latin typeface="Microsoft YaHei"/>
              </a:rPr>
              <a:t>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阿里云 + Nginx + systemd
每日定时采集，已上线运行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127248"/>
            <a:ext cx="5120640" cy="1115568"/>
          </a:xfrm>
          <a:prstGeom prst="roundRect">
            <a:avLst>
              <a:gd name="adj" fmla="val 7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2552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B63D8"/>
                </a:solidFill>
                <a:latin typeface="Microsoft YaHei"/>
              </a:rPr>
              <a:t>质量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8444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Python 466 个测试，前端 66 个测试
全部通过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425696"/>
            <a:ext cx="5120640" cy="1115568"/>
          </a:xfrm>
          <a:prstGeom prst="roundRect">
            <a:avLst>
              <a:gd name="adj" fmla="val 7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5537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B63D8"/>
                </a:solidFill>
                <a:latin typeface="Microsoft YaHei"/>
              </a:rPr>
              <a:t>AI 辅助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882896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E4C61"/>
                </a:solidFill>
                <a:latin typeface="Microsoft YaHei"/>
              </a:rPr>
              <a:t>DeepSeek 读原始页面交叉核对提取结果
AI 只做读者，不做权威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3D8"/>
                </a:solidFill>
                <a:latin typeface="Microsoft YaHei"/>
              </a:rPr>
              <a:t>诚实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21B2B"/>
                </a:solidFill>
                <a:latin typeface="Microsoft YaHei"/>
              </a:rPr>
              <a:t>已知局限（不回避）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371600" cy="381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A899C"/>
                </a:solidFill>
                <a:latin typeface="Microsoft YaHe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E4C61"/>
                </a:solidFill>
                <a:latin typeface="Microsoft YaHei"/>
              </a:rPr>
              <a:t>这些限制在系统里都是可见状态，不是藏起来的问题。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0370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6654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3 个来源当前采集失败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政府 SIPAC 页面无可提取事件；大麦搜索页被 robots.txt 禁止；Subao 抽不出有效日期。原因逐条记录在系统里。两个原本因为前端 JS 渲染而采不到的场馆（苏州国际博览中心、苏州文化艺术中心），已改走它们自己页面调用的公开 JSON 接口，现在正常出数据。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44952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07792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19 个场馆还没有坐标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1868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多为小剧场、茶馆、livehouse，高德没有对应条目，需要人工指定。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4904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活动级已核验目前是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5993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一个活动要全部事实字段都核验才算通过，人工审核还没做完。字段级已核验为 558 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27448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90288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不做收益预测，也不对接 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01184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项目边界：只提供外部需求信号，不预测收入，不自动调价。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3D8"/>
                </a:solidFill>
                <a:latin typeface="Microsoft YaHei"/>
              </a:rPr>
              <a:t>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21B2B"/>
                </a:solidFill>
                <a:latin typeface="Microsoft YaHei"/>
              </a:rPr>
              <a:t>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371600" cy="381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A899C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877824"/>
          </a:xfrm>
          <a:prstGeom prst="roundRect">
            <a:avLst>
              <a:gd name="adj" fmla="val 8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64008" cy="877824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947672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扩大来源覆盖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67712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把失败来源换成可用替代（场馆公众号、票务官方页），并接入更多政府与场馆来源。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89504"/>
            <a:ext cx="10515600" cy="877824"/>
          </a:xfrm>
          <a:prstGeom prst="roundRect">
            <a:avLst>
              <a:gd name="adj" fmla="val 8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889504"/>
            <a:ext cx="64008" cy="877824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008376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补齐场馆坐标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2841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剩余 19 个场馆人工指定坐标，把可绘制活动从 101 条提到接近全覆盖。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50208"/>
            <a:ext cx="10515600" cy="877824"/>
          </a:xfrm>
          <a:prstGeom prst="roundRect">
            <a:avLst>
              <a:gd name="adj" fmla="val 8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950208"/>
            <a:ext cx="64008" cy="877824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69080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完成一轮人工审核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8912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让活动级已核验真正可用，并量化人工审核的真实工作量。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10912"/>
            <a:ext cx="10515600" cy="877824"/>
          </a:xfrm>
          <a:prstGeom prst="roundRect">
            <a:avLst>
              <a:gd name="adj" fmla="val 8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5010912"/>
            <a:ext cx="64008" cy="877824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129784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域名与 HTTPS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44982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接入正式域名，让钉钉和微信里可以直接打开，不带安全警告。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9EC2F5"/>
                </a:solidFill>
                <a:latin typeface="Microsoft YaHei"/>
              </a:rPr>
              <a:t>现在就能打开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系统已上线运行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B9C6D8"/>
                </a:solidFill>
                <a:latin typeface="Microsoft YaHei"/>
              </a:rPr>
              <a:t>扫码或直接在浏览器输入地址，看到的是真实数据库和真实采集结果。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971800"/>
            <a:ext cx="6035040" cy="1005840"/>
          </a:xfrm>
          <a:prstGeom prst="roundRect">
            <a:avLst>
              <a:gd name="adj" fmla="val 10000"/>
            </a:avLst>
          </a:prstGeom>
          <a:solidFill>
            <a:srgbClr val="1E2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8FC4FF"/>
                </a:solidFill>
                <a:latin typeface="Microsoft YaHei"/>
              </a:rPr>
              <a:t>http://47.116.133.230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B9C6D8"/>
                </a:solidFill>
                <a:latin typeface="Microsoft YaHei"/>
              </a:rPr>
              <a:t>建议按这个顺序看：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B9C6D8"/>
                </a:solidFill>
                <a:latin typeface="Microsoft YaHei"/>
              </a:rPr>
              <a:t>①  城市活动地图 —— 类别分色与热点场馆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B9C6D8"/>
                </a:solidFill>
                <a:latin typeface="Microsoft YaHei"/>
              </a:rPr>
              <a:t>②  酒店活动情报 —— 酒店分层与周边活动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B9C6D8"/>
                </a:solidFill>
                <a:latin typeface="Microsoft YaHei"/>
              </a:rPr>
              <a:t>③  证据与数据质量 —— 点开任意一条看原始来源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37360"/>
            <a:ext cx="31089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nduner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920240"/>
            <a:ext cx="274320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21040" y="495604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9EC2F5"/>
                </a:solidFill>
                <a:latin typeface="Microsoft YaHei"/>
              </a:rPr>
              <a:t>扫码打开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53492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7A899C"/>
                </a:solidFill>
                <a:latin typeface="Microsoft YaHei"/>
              </a:rPr>
              <a:t>手机浏览器打开，首次可能提示非 HTTPS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3D8"/>
                </a:solidFill>
                <a:latin typeface="Microsoft YaHe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21B2B"/>
                </a:solidFill>
                <a:latin typeface="Microsoft YaHei"/>
              </a:rPr>
              <a:t>一句话总结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1371600" cy="3810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A899C"/>
                </a:solidFill>
                <a:latin typeface="Microsoft Ya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10515600" cy="1645920"/>
          </a:xfrm>
          <a:prstGeom prst="roundRect">
            <a:avLst>
              <a:gd name="adj" fmla="val 6000"/>
            </a:avLst>
          </a:prstGeom>
          <a:solidFill>
            <a:srgbClr val="ED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1">
                <a:solidFill>
                  <a:srgbClr val="1B63D8"/>
                </a:solidFill>
                <a:latin typeface="Microsoft YaHei"/>
              </a:rPr>
              <a:t>我们做的不是爬虫，而是一条让每个数字都能被追问的数据链。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32504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95344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可追溯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每个字段都能点开，看到它来自哪个网页的哪一段。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690872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53712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不编造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6460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缺失就标缺失，不确定就标待复核，绝不静默补全。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349240"/>
            <a:ext cx="91440" cy="91440"/>
          </a:xfrm>
          <a:prstGeom prst="rect">
            <a:avLst/>
          </a:prstGeom>
          <a:solidFill>
            <a:srgbClr val="1B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120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21B2B"/>
                </a:solidFill>
                <a:latin typeface="Microsoft YaHei"/>
              </a:rPr>
              <a:t>可交付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2297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7A899C"/>
                </a:solidFill>
                <a:latin typeface="Microsoft YaHei"/>
              </a:rPr>
              <a:t>系统已上线，有地址有二维码，现在就能打开验证。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